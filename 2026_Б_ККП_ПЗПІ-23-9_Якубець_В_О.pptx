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1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8" r:id="rId15"/>
    <p:sldId id="267" r:id="rId16"/>
  </p:sldIdLst>
  <p:sldSz cx="9144000" cy="5143500" type="screen16x9"/>
  <p:notesSz cx="6858000" cy="9144000"/>
  <p:embeddedFontLst>
    <p:embeddedFont>
      <p:font typeface="Open Sans" panose="020B0604020202020204" charset="0"/>
      <p:regular r:id="rId18"/>
      <p:bold r:id="rId19"/>
      <p:italic r:id="rId20"/>
      <p:boldItalic r:id="rId21"/>
    </p:embeddedFont>
    <p:embeddedFont>
      <p:font typeface="Economica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74A9E5-CDBA-43C3-B706-ADC93013AA5A}" v="34" dt="2026-06-05T17:58:28.0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92" d="100"/>
          <a:sy n="192" d="100"/>
        </p:scale>
        <p:origin x="864" y="15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4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7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5.fntdata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u-UA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1374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UA"/>
          </a:p>
        </p:txBody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UA"/>
          </a:p>
        </p:txBody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UA"/>
          </a:p>
        </p:txBody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UA"/>
          </a:p>
        </p:txBody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UA"/>
          </a:p>
        </p:txBody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UA"/>
          </a:p>
        </p:txBody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UA"/>
          </a:p>
        </p:txBody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UA"/>
          </a:p>
        </p:txBody>
      </p:sp>
      <p:sp>
        <p:nvSpPr>
          <p:cNvPr id="111" name="Google Shape;111;g2e16b2adad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UA"/>
          </a:p>
        </p:txBody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UA"/>
          </a:p>
        </p:txBody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UA"/>
          </a:p>
        </p:txBody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6b2adad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ru-UA"/>
          </a:p>
        </p:txBody>
      </p:sp>
      <p:sp>
        <p:nvSpPr>
          <p:cNvPr id="139" name="Google Shape;139;g2e16b2adad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ru-UA"/>
          </a:p>
        </p:txBody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ru-UA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ru-UA"/>
          </a:p>
        </p:txBody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ru-UA"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Пустий слайд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795510" y="790162"/>
            <a:ext cx="4310967" cy="162504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ru-RU" sz="2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Програмна система для пошуку тіммейтів у відеоіграх з підтримкою рейтингу та внутрішньої комунікації</a:t>
            </a:r>
            <a:endParaRPr lang="uk-UA" sz="24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2133599" y="3330499"/>
            <a:ext cx="5050733" cy="10327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uk-UA" noProof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6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Якубець Владислав Олексійович </a:t>
            </a:r>
            <a:r>
              <a:rPr lang="uk-UA" sz="16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ПЗПІ-23-9</a:t>
            </a:r>
          </a:p>
          <a:p>
            <a:pPr marL="0" lvl="0" indent="0" algn="l"/>
            <a:r>
              <a:rPr lang="uk-UA" sz="16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Керівник: </a:t>
            </a:r>
            <a:r>
              <a:rPr lang="ru-RU" sz="16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доц. кафедри ПІ Роксана </a:t>
            </a:r>
            <a:r>
              <a:rPr lang="ru-RU" sz="16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Мельнікова</a:t>
            </a:r>
            <a:endParaRPr lang="uk-UA" sz="16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uk-UA" sz="16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Прямоугольник 1"/>
          <p:cNvSpPr/>
          <p:nvPr/>
        </p:nvSpPr>
        <p:spPr>
          <a:xfrm>
            <a:off x="3814740" y="4788345"/>
            <a:ext cx="1484702" cy="3139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80000"/>
              </a:lnSpc>
              <a:buClr>
                <a:schemeClr val="dk1"/>
              </a:buClr>
              <a:buSzPts val="2100"/>
            </a:pPr>
            <a:r>
              <a:rPr lang="uk-UA" sz="1800" noProof="1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7 червня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Мета роботи</a:t>
            </a:r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Розробка програмної системи </a:t>
            </a:r>
            <a:r>
              <a:rPr lang="en-US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TeamForge </a:t>
            </a: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для пошуку тіммейтів у відеоіграх, яка забезпечує підбір користувачів за заданими параметрами, підтримує внутрішню комунікацію та дозволяє формувати рейтинг на основі спільної гри</a:t>
            </a: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 </a:t>
            </a: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командних онлайн-іграх важливу роль відіграє якісний підбір тіммейтів. Існуючі способи пошуку часто не враховують рівень навичок, стиль гри, рейтинг та періоди активності користувачів.</a:t>
            </a: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3E68CA-DEF7-D32D-BFB6-7B402335F4C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1" smtClean="0"/>
              <a:t>2</a:t>
            </a:fld>
            <a:endParaRPr lang="uk-UA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 проблеми та існуючих рішень </a:t>
            </a:r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9332842" y="1061230"/>
            <a:ext cx="90835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Aft>
                <a:spcPts val="600"/>
              </a:spcAft>
              <a:buNone/>
            </a:pPr>
            <a:r>
              <a:rPr lang="uk-UA" sz="1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</a:t>
            </a:r>
            <a:endParaRPr lang="uk-UA" sz="1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1" smtClean="0"/>
              <a:t>3</a:t>
            </a:fld>
            <a:endParaRPr lang="uk-UA" noProof="1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416745"/>
              </p:ext>
            </p:extLst>
          </p:nvPr>
        </p:nvGraphicFramePr>
        <p:xfrm>
          <a:off x="415511" y="1369668"/>
          <a:ext cx="8301106" cy="20225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1706">
                  <a:extLst>
                    <a:ext uri="{9D8B030D-6E8A-4147-A177-3AD203B41FA5}">
                      <a16:colId xmlns:a16="http://schemas.microsoft.com/office/drawing/2014/main" val="876285885"/>
                    </a:ext>
                  </a:extLst>
                </a:gridCol>
                <a:gridCol w="3210339">
                  <a:extLst>
                    <a:ext uri="{9D8B030D-6E8A-4147-A177-3AD203B41FA5}">
                      <a16:colId xmlns:a16="http://schemas.microsoft.com/office/drawing/2014/main" val="3816092429"/>
                    </a:ext>
                  </a:extLst>
                </a:gridCol>
                <a:gridCol w="3419061">
                  <a:extLst>
                    <a:ext uri="{9D8B030D-6E8A-4147-A177-3AD203B41FA5}">
                      <a16:colId xmlns:a16="http://schemas.microsoft.com/office/drawing/2014/main" val="2730833713"/>
                    </a:ext>
                  </a:extLst>
                </a:gridCol>
              </a:tblGrid>
              <a:tr h="346186">
                <a:tc>
                  <a:txBody>
                    <a:bodyPr/>
                    <a:lstStyle/>
                    <a:p>
                      <a:r>
                        <a:rPr lang="uk-UA" noProof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Існуюче рішення</a:t>
                      </a:r>
                      <a:endParaRPr lang="uk-UA" noProof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noProof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Переваги</a:t>
                      </a:r>
                      <a:endParaRPr lang="uk-UA" noProof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noProof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Недоліки</a:t>
                      </a:r>
                      <a:endParaRPr lang="uk-UA" noProof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9226284"/>
                  </a:ext>
                </a:extLst>
              </a:tr>
              <a:tr h="346186">
                <a:tc>
                  <a:txBody>
                    <a:bodyPr/>
                    <a:lstStyle/>
                    <a:p>
                      <a:r>
                        <a:rPr lang="en-US" noProof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Discord</a:t>
                      </a:r>
                      <a:endParaRPr lang="uk-UA" noProof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uk-UA" sz="1400" b="0" i="0" u="none" strike="noStrike" cap="none" noProof="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Велика кількість користувачів; зручний чат; підтримка голосового спілкування</a:t>
                      </a:r>
                      <a:endParaRPr lang="uk-UA" sz="1400" b="0" i="0" u="none" strike="noStrike" cap="none" noProof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uk-UA" sz="1400" b="0" i="0" u="none" strike="noStrike" cap="none" noProof="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Відсутній структурований пошук </a:t>
                      </a:r>
                      <a:r>
                        <a:rPr lang="uk-UA" sz="1400" b="0" i="0" u="none" strike="noStrike" cap="none" noProof="0" dirty="0" err="1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тіммейтів</a:t>
                      </a:r>
                      <a:r>
                        <a:rPr lang="uk-UA" sz="1400" b="0" i="0" u="none" strike="noStrike" cap="none" noProof="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; немає системи рейтингу; більшість інформації вводиться вручну</a:t>
                      </a:r>
                      <a:endParaRPr lang="uk-UA" sz="1400" b="0" i="0" u="none" strike="noStrike" cap="none" noProof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431767"/>
                  </a:ext>
                </a:extLst>
              </a:tr>
              <a:tr h="346186">
                <a:tc>
                  <a:txBody>
                    <a:bodyPr/>
                    <a:lstStyle/>
                    <a:p>
                      <a: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cap="none" noProof="0" dirty="0" err="1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GamerLink</a:t>
                      </a:r>
                      <a:endParaRPr lang="en-US" sz="1400" b="0" i="0" u="none" strike="noStrike" cap="none" noProof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uk-UA" sz="1400" b="0" i="0" u="none" strike="noStrike" cap="none" noProof="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Спеціалізований сервіс для пошуку гравців; сучасний інтерфейс</a:t>
                      </a:r>
                      <a:endParaRPr lang="uk-UA" sz="1400" b="0" i="0" u="none" strike="noStrike" cap="none" noProof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uk-UA" sz="1400" b="0" i="0" u="none" strike="noStrike" cap="none" noProof="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Обмежені можливості налаштування профілю; залежність від мобільної платформи; наявність рекламних елементів</a:t>
                      </a:r>
                      <a:endParaRPr lang="uk-UA" sz="1400" b="0" i="0" u="none" strike="noStrike" cap="none" noProof="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75388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задачі та опис системи</a:t>
            </a: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291822" y="1003852"/>
            <a:ext cx="8520600" cy="32026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Для досягнення поставленої мети необхідно було вирішити такі </a:t>
            </a: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завдання</a:t>
            </a: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>
              <a:spcAft>
                <a:spcPts val="600"/>
              </a:spcAft>
              <a:buNone/>
            </a:pPr>
            <a:endParaRPr lang="uk-UA" sz="1400" noProof="1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реалізувати механізми реєстрації та авторизації </a:t>
            </a: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користувачів</a:t>
            </a: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забезпечити управління профілем та налаштування </a:t>
            </a: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видимості</a:t>
            </a: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розробити систему пошуку тіммейтів за заданими </a:t>
            </a: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параметрами</a:t>
            </a: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реалізувати внутрішній чат, систему інвайтів та список </a:t>
            </a: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друзів</a:t>
            </a: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забезпечити можливість оцінювання користувачів після </a:t>
            </a: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взаємодії</a:t>
            </a: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реалізувати адміністративні функції управління </a:t>
            </a: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системою</a:t>
            </a: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uk-UA" sz="14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1" smtClean="0"/>
              <a:t>4</a:t>
            </a:fld>
            <a:endParaRPr lang="uk-UA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-14830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Вибір технологій розробки </a:t>
            </a:r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ASP.NET </a:t>
            </a:r>
            <a:r>
              <a:rPr lang="en-US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Core Web API </a:t>
            </a: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та </a:t>
            </a:r>
            <a:r>
              <a:rPr lang="en-US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C# – </a:t>
            </a: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реалізація серверної частини програмної системи та обробка бізнес-логіки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React </a:t>
            </a: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та </a:t>
            </a:r>
            <a:r>
              <a:rPr lang="en-US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Tailwind CSS – </a:t>
            </a: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створення клієнтського вебінтерфейсу та забезпечення адаптивного дизайну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React </a:t>
            </a:r>
            <a:r>
              <a:rPr lang="en-US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Native </a:t>
            </a: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та </a:t>
            </a:r>
            <a:r>
              <a:rPr lang="en-US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TypeScript – </a:t>
            </a: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розробка мобільного застосунку для доступу до основних можливостей системи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</a:t>
            </a:r>
            <a:r>
              <a:rPr lang="ru-RU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та </a:t>
            </a:r>
            <a:r>
              <a:rPr lang="en-US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Entity Framework Core – </a:t>
            </a:r>
            <a:r>
              <a:rPr lang="ru-RU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зберігання даних і взаємодія серверної частини з базою </a:t>
            </a:r>
            <a:r>
              <a:rPr lang="ru-RU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endParaRPr lang="uk-UA" sz="1400" noProof="1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JWT Authentication – </a:t>
            </a: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автентифікація користувачів та захист </a:t>
            </a:r>
            <a:r>
              <a:rPr lang="en-US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API </a:t>
            </a: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від несанкціонованого доступу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Render </a:t>
            </a: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та </a:t>
            </a:r>
            <a:r>
              <a:rPr lang="en-US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Supabase – </a:t>
            </a: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розгортання серверної частини та хмарне розміщення бази даних</a:t>
            </a:r>
          </a:p>
          <a:p>
            <a:pPr marL="0" lvl="0" indent="0">
              <a:spcAft>
                <a:spcPts val="600"/>
              </a:spcAft>
              <a:buNone/>
            </a:pPr>
            <a:endParaRPr lang="uk-UA" sz="14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1" smtClean="0"/>
              <a:t>5</a:t>
            </a:fld>
            <a:endParaRPr lang="uk-UA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68925" y="34965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Архітектура </a:t>
            </a:r>
            <a:r>
              <a:rPr lang="uk-UA" sz="32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створеного </a:t>
            </a:r>
            <a:r>
              <a:rPr lang="uk-UA" sz="3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програмного забезпечення</a:t>
            </a:r>
          </a:p>
        </p:txBody>
      </p:sp>
      <p:sp>
        <p:nvSpPr>
          <p:cNvPr id="100" name="Google Shape;100;p18"/>
          <p:cNvSpPr txBox="1">
            <a:spLocks noGrp="1"/>
          </p:cNvSpPr>
          <p:nvPr>
            <p:ph type="body" idx="1"/>
          </p:nvPr>
        </p:nvSpPr>
        <p:spPr>
          <a:xfrm>
            <a:off x="311700" y="3170583"/>
            <a:ext cx="8520600" cy="14087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</a:t>
            </a: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реалізована за клієнт-серверною архітектурою</a:t>
            </a: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взаємодія </a:t>
            </a: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між клієнтами та сервером здійснюється через </a:t>
            </a:r>
            <a:r>
              <a:rPr lang="en-US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REST API </a:t>
            </a: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у форматі </a:t>
            </a:r>
            <a:r>
              <a:rPr lang="en-US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en-US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400" noProof="1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серверна </a:t>
            </a: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частина забезпечує автентифікацію користувачів, обробку бізнес-логіки та роботу з базою даних.</a:t>
            </a:r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1" smtClean="0"/>
              <a:t>6</a:t>
            </a:fld>
            <a:endParaRPr lang="uk-UA" noProof="1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973" y="1247360"/>
            <a:ext cx="6763930" cy="18039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1700" y="31240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Опис програмного забезпечення, що було використано у дослідженні</a:t>
            </a:r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296791" y="1357831"/>
            <a:ext cx="312227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 </a:t>
            </a: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розробки: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 </a:t>
            </a: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предметної області</a:t>
            </a: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формування </a:t>
            </a: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вимог у </a:t>
            </a:r>
            <a:r>
              <a:rPr lang="en-US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SRS</a:t>
            </a:r>
            <a:r>
              <a:rPr lang="en-US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400" noProof="1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проєктування </a:t>
            </a:r>
            <a:r>
              <a:rPr lang="en-US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UML-</a:t>
            </a: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діаграм</a:t>
            </a: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проєктування </a:t>
            </a: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бази даних</a:t>
            </a: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реалізація </a:t>
            </a:r>
            <a:r>
              <a:rPr lang="en-US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backend, web </a:t>
            </a: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та </a:t>
            </a:r>
            <a:r>
              <a:rPr lang="en-US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mobile </a:t>
            </a: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частин</a:t>
            </a: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тестування </a:t>
            </a: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основних сценаріїв роботи системи.</a:t>
            </a: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26AFC1-F793-030A-440F-FC50C3AEF71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1" smtClean="0"/>
              <a:t>7</a:t>
            </a:fld>
            <a:endParaRPr lang="uk-UA" noProof="1"/>
          </a:p>
        </p:txBody>
      </p:sp>
      <p:sp>
        <p:nvSpPr>
          <p:cNvPr id="3" name="Прямоугольник 2"/>
          <p:cNvSpPr/>
          <p:nvPr/>
        </p:nvSpPr>
        <p:spPr>
          <a:xfrm>
            <a:off x="4805570" y="1426399"/>
            <a:ext cx="3215309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>
              <a:spcAft>
                <a:spcPts val="600"/>
              </a:spcAft>
              <a:buNone/>
            </a:pPr>
            <a:r>
              <a:rPr lang="uk-UA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Використані </a:t>
            </a:r>
            <a:r>
              <a:rPr lang="uk-UA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засоби: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Visual </a:t>
            </a:r>
            <a:r>
              <a:rPr lang="en-US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Studio / </a:t>
            </a:r>
            <a:r>
              <a:rPr lang="en-US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ru-RU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Code;</a:t>
            </a:r>
            <a:endParaRPr lang="ru-RU" noProof="1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Aft>
                <a:spcPts val="600"/>
              </a:spcAft>
              <a:buNone/>
            </a:pPr>
            <a:r>
              <a:rPr lang="uk-UA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Swagger;</a:t>
            </a:r>
            <a:endParaRPr lang="ru-RU" noProof="1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Aft>
                <a:spcPts val="600"/>
              </a:spcAft>
              <a:buNone/>
            </a:pPr>
            <a:r>
              <a:rPr lang="uk-UA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GitHub;</a:t>
            </a:r>
            <a:endParaRPr lang="ru-RU" noProof="1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Aft>
                <a:spcPts val="600"/>
              </a:spcAft>
              <a:buNone/>
            </a:pPr>
            <a:r>
              <a:rPr lang="uk-UA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PostgreSQL;</a:t>
            </a:r>
            <a:endParaRPr lang="ru-RU" noProof="1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Aft>
                <a:spcPts val="600"/>
              </a:spcAft>
              <a:buNone/>
            </a:pPr>
            <a:r>
              <a:rPr lang="uk-UA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Render;</a:t>
            </a:r>
            <a:endParaRPr lang="ru-RU" noProof="1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spcAft>
                <a:spcPts val="600"/>
              </a:spcAft>
              <a:buNone/>
            </a:pPr>
            <a:r>
              <a:rPr lang="uk-UA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Supabase</a:t>
            </a:r>
            <a:r>
              <a:rPr lang="en-US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uk-UA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311700" y="-9203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Дизайн системи</a:t>
            </a:r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293664" y="1016503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створено </a:t>
            </a: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єдиний стиль веб та мобільного інтерфейсів для забезпечення зручної взаємодії користувачів із </a:t>
            </a: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системою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навігація </a:t>
            </a: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побудована таким чином, щоб спростити пошук тіммейтів, обмін повідомленнями та роботу з </a:t>
            </a: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інвайтами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під </a:t>
            </a: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час розробки вебінтерфейсу використано </a:t>
            </a:r>
            <a:r>
              <a:rPr lang="en-US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React, Tailwind CSS </a:t>
            </a: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та компонентний підхід до побудови </a:t>
            </a: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інтерфейсу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мобільний </a:t>
            </a: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застосунок реалізовано за допомогою </a:t>
            </a:r>
            <a:r>
              <a:rPr lang="en-US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React Native </a:t>
            </a: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та </a:t>
            </a:r>
            <a:r>
              <a:rPr lang="en-US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TypeScript </a:t>
            </a: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із врахуванням особливостей використання на мобільних </a:t>
            </a: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пристроях</a:t>
            </a:r>
          </a:p>
          <a:p>
            <a:pPr marL="0" lvl="0" indent="0"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</a:t>
            </a: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сторінок забезпечує швидкий доступ до профілю користувача, пошуку, списку друзів, чату та адміністративних функцій системи</a:t>
            </a:r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24834-013E-7249-F488-C816A0DA935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1" smtClean="0"/>
              <a:t>8</a:t>
            </a:fld>
            <a:endParaRPr lang="uk-UA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Приклад реалізації</a:t>
            </a: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1" smtClean="0"/>
              <a:t>9</a:t>
            </a:fld>
            <a:endParaRPr lang="uk-UA" noProof="1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7483" y="269996"/>
            <a:ext cx="3060047" cy="4405568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5"/>
          <a:stretch>
            <a:fillRect/>
          </a:stretch>
        </p:blipFill>
        <p:spPr>
          <a:xfrm>
            <a:off x="154057" y="1108213"/>
            <a:ext cx="5203135" cy="277798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Інтерфейс користувача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1" smtClean="0"/>
              <a:t>10</a:t>
            </a:fld>
            <a:endParaRPr lang="uk-UA" noProof="1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165" y="2525803"/>
            <a:ext cx="3961510" cy="1827535"/>
          </a:xfrm>
          <a:prstGeom prst="rect">
            <a:avLst/>
          </a:prstGeom>
        </p:spPr>
      </p:pic>
      <p:pic>
        <p:nvPicPr>
          <p:cNvPr id="129" name="Google Shape;12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301" y="635885"/>
            <a:ext cx="3933889" cy="1824050"/>
          </a:xfrm>
          <a:prstGeom prst="rect">
            <a:avLst/>
          </a:prstGeom>
        </p:spPr>
      </p:pic>
      <p:pic>
        <p:nvPicPr>
          <p:cNvPr id="9" name="Рисунок 8"/>
          <p:cNvPicPr/>
          <p:nvPr/>
        </p:nvPicPr>
        <p:blipFill>
          <a:blip r:embed="rId6"/>
          <a:stretch>
            <a:fillRect/>
          </a:stretch>
        </p:blipFill>
        <p:spPr>
          <a:xfrm>
            <a:off x="4741364" y="427382"/>
            <a:ext cx="1873127" cy="4100154"/>
          </a:xfrm>
          <a:prstGeom prst="rect">
            <a:avLst/>
          </a:prstGeom>
        </p:spPr>
      </p:pic>
      <p:pic>
        <p:nvPicPr>
          <p:cNvPr id="10" name="Рисунок 9"/>
          <p:cNvPicPr/>
          <p:nvPr/>
        </p:nvPicPr>
        <p:blipFill>
          <a:blip r:embed="rId7"/>
          <a:stretch>
            <a:fillRect/>
          </a:stretch>
        </p:blipFill>
        <p:spPr>
          <a:xfrm>
            <a:off x="6890426" y="412473"/>
            <a:ext cx="1706921" cy="414467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Тестування</a:t>
            </a:r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1" smtClean="0"/>
              <a:t>11</a:t>
            </a:fld>
            <a:endParaRPr lang="uk-UA" noProof="1"/>
          </a:p>
        </p:txBody>
      </p:sp>
      <p:graphicFrame>
        <p:nvGraphicFramePr>
          <p:cNvPr id="3" name="Таблиця 2">
            <a:extLst>
              <a:ext uri="{FF2B5EF4-FFF2-40B4-BE49-F238E27FC236}">
                <a16:creationId xmlns:a16="http://schemas.microsoft.com/office/drawing/2014/main" id="{1F88042C-6FAE-960A-9C8F-55778747B5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9530746"/>
              </p:ext>
            </p:extLst>
          </p:nvPr>
        </p:nvGraphicFramePr>
        <p:xfrm>
          <a:off x="1310640" y="687679"/>
          <a:ext cx="7061200" cy="3801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7325">
                  <a:extLst>
                    <a:ext uri="{9D8B030D-6E8A-4147-A177-3AD203B41FA5}">
                      <a16:colId xmlns:a16="http://schemas.microsoft.com/office/drawing/2014/main" val="1993304790"/>
                    </a:ext>
                  </a:extLst>
                </a:gridCol>
                <a:gridCol w="3230218">
                  <a:extLst>
                    <a:ext uri="{9D8B030D-6E8A-4147-A177-3AD203B41FA5}">
                      <a16:colId xmlns:a16="http://schemas.microsoft.com/office/drawing/2014/main" val="1285033058"/>
                    </a:ext>
                  </a:extLst>
                </a:gridCol>
                <a:gridCol w="1543657">
                  <a:extLst>
                    <a:ext uri="{9D8B030D-6E8A-4147-A177-3AD203B41FA5}">
                      <a16:colId xmlns:a16="http://schemas.microsoft.com/office/drawing/2014/main" val="1440817641"/>
                    </a:ext>
                  </a:extLst>
                </a:gridCol>
              </a:tblGrid>
              <a:tr h="346186">
                <a:tc>
                  <a:txBody>
                    <a:bodyPr/>
                    <a:lstStyle/>
                    <a:p>
                      <a:r>
                        <a:rPr lang="uk-UA" noProof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Сценарій тестування</a:t>
                      </a:r>
                      <a:endParaRPr lang="uk-UA" noProof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noProof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Очікуваний результат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noProof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Результат</a:t>
                      </a:r>
                      <a:endParaRPr lang="uk-UA" noProof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2553860"/>
                  </a:ext>
                </a:extLst>
              </a:tr>
              <a:tr h="346186">
                <a:tc>
                  <a:txBody>
                    <a:bodyPr/>
                    <a:lstStyle/>
                    <a:p>
                      <a: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uk-UA" sz="1400" b="0" i="0" u="none" strike="noStrike" cap="none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Реєстрація нового користувача</a:t>
                      </a:r>
                      <a:endParaRPr lang="uk-UA" sz="1400" b="0" i="0" u="none" strike="noStrike" cap="none" noProof="1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uk-UA" sz="1400" b="0" i="0" u="none" strike="noStrike" cap="none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Створення нового облікового запису</a:t>
                      </a:r>
                      <a:endParaRPr lang="uk-UA" sz="1400" b="0" i="0" u="none" strike="noStrike" cap="none" noProof="1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uk-UA" sz="1400" b="0" i="0" u="none" strike="noStrike" kern="0" cap="none" spc="0" normalizeH="0" baseline="0" noProof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Успішно</a:t>
                      </a:r>
                      <a:endParaRPr kumimoji="0" lang="uk-UA" sz="1400" b="0" i="0" u="none" strike="noStrike" kern="0" cap="none" spc="0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2083787"/>
                  </a:ext>
                </a:extLst>
              </a:tr>
              <a:tr h="346186">
                <a:tc>
                  <a:txBody>
                    <a:bodyPr/>
                    <a:lstStyle/>
                    <a:p>
                      <a: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uk-UA" sz="1400" b="0" i="0" u="none" strike="noStrike" cap="none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Авторизація користувача</a:t>
                      </a:r>
                      <a:endParaRPr lang="uk-UA" sz="1400" b="0" i="0" u="none" strike="noStrike" cap="none" noProof="1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uk-UA" sz="1400" b="0" i="0" u="none" strike="noStrike" cap="none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Успішний вхід до системи</a:t>
                      </a:r>
                      <a:endParaRPr lang="uk-UA" sz="1400" b="0" i="0" u="none" strike="noStrike" cap="none" noProof="1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uk-UA" sz="1400" b="0" i="0" u="none" strike="noStrike" kern="0" cap="none" spc="0" normalizeH="0" baseline="0" noProof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Успішно</a:t>
                      </a:r>
                      <a:endParaRPr kumimoji="0" lang="uk-UA" sz="1400" b="0" i="0" u="none" strike="noStrike" kern="0" cap="none" spc="0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2932074"/>
                  </a:ext>
                </a:extLst>
              </a:tr>
              <a:tr h="346186">
                <a:tc>
                  <a:txBody>
                    <a:bodyPr/>
                    <a:lstStyle/>
                    <a:p>
                      <a: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uk-UA" sz="1400" b="0" i="0" u="none" strike="noStrike" cap="none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Пошук тіммейтів за заданими параметрами</a:t>
                      </a:r>
                      <a:endParaRPr lang="uk-UA" sz="1400" b="0" i="0" u="none" strike="noStrike" cap="none" noProof="1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uk-UA" sz="1400" b="0" i="0" u="none" strike="noStrike" cap="none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Відображення користувачів, що відповідають фільтрам</a:t>
                      </a:r>
                      <a:endParaRPr lang="uk-UA" sz="1400" b="0" i="0" u="none" strike="noStrike" cap="none" noProof="1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uk-UA" sz="1400" b="0" i="0" u="none" strike="noStrike" kern="0" cap="none" spc="0" normalizeH="0" baseline="0" noProof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Успішно</a:t>
                      </a:r>
                      <a:endParaRPr kumimoji="0" lang="uk-UA" sz="1400" b="0" i="0" u="none" strike="noStrike" kern="0" cap="none" spc="0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2648344"/>
                  </a:ext>
                </a:extLst>
              </a:tr>
              <a:tr h="346186">
                <a:tc>
                  <a:txBody>
                    <a:bodyPr/>
                    <a:lstStyle/>
                    <a:p>
                      <a: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uk-UA" sz="1400" b="0" i="0" u="none" strike="noStrike" cap="none" noProof="1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Надсилання інвайту до спільної гри</a:t>
                      </a:r>
                      <a:endParaRPr lang="uk-UA" sz="1400" b="0" i="0" u="none" strike="noStrike" cap="none" noProof="1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uk-UA" sz="1400" b="0" i="0" u="none" strike="noStrike" cap="none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Створення нового інвайту</a:t>
                      </a:r>
                      <a:endParaRPr lang="uk-UA" sz="1400" b="0" i="0" u="none" strike="noStrike" cap="none" noProof="1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uk-UA" sz="1400" b="0" i="0" u="none" strike="noStrike" kern="0" cap="none" spc="0" normalizeH="0" baseline="0" noProof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Успішно</a:t>
                      </a:r>
                      <a:endParaRPr kumimoji="0" lang="uk-UA" sz="1400" b="0" i="0" u="none" strike="noStrike" kern="0" cap="none" spc="0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2340525"/>
                  </a:ext>
                </a:extLst>
              </a:tr>
              <a:tr h="346186">
                <a:tc>
                  <a:txBody>
                    <a:bodyPr/>
                    <a:lstStyle/>
                    <a:p>
                      <a: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uk-UA" sz="1400" b="0" i="0" u="none" strike="noStrike" cap="none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Надсилання повідомлення у чаті</a:t>
                      </a:r>
                      <a:endParaRPr lang="uk-UA" sz="1400" b="0" i="0" u="none" strike="noStrike" cap="none" noProof="1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uk-UA" sz="1400" b="0" i="0" u="none" strike="noStrike" cap="none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Відображення повідомлення у переписці</a:t>
                      </a:r>
                      <a:endParaRPr lang="uk-UA" sz="1400" b="0" i="0" u="none" strike="noStrike" cap="none" noProof="1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uk-UA" sz="1400" b="0" i="0" u="none" strike="noStrike" kern="0" cap="none" spc="0" normalizeH="0" baseline="0" noProof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Успішно</a:t>
                      </a:r>
                      <a:endParaRPr kumimoji="0" lang="uk-UA" sz="1400" b="0" i="0" u="none" strike="noStrike" kern="0" cap="none" spc="0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7954745"/>
                  </a:ext>
                </a:extLst>
              </a:tr>
              <a:tr h="346186">
                <a:tc>
                  <a:txBody>
                    <a:bodyPr/>
                    <a:lstStyle/>
                    <a:p>
                      <a: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uk-UA" sz="1400" b="0" i="0" u="none" strike="noStrike" cap="none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Залишення оцінки після взаємодії</a:t>
                      </a:r>
                      <a:endParaRPr lang="uk-UA" sz="1400" b="0" i="0" u="none" strike="noStrike" cap="none" noProof="1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uk-UA" sz="1400" b="0" i="0" u="none" strike="noStrike" cap="none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Збереження оцінки та оновлення рейтингу</a:t>
                      </a:r>
                      <a:endParaRPr lang="uk-UA" sz="1400" b="0" i="0" u="none" strike="noStrike" cap="none" noProof="1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uk-UA" sz="1400" b="0" i="0" u="none" strike="noStrike" kern="0" cap="none" spc="0" normalizeH="0" baseline="0" noProof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Успішно</a:t>
                      </a:r>
                      <a:endParaRPr kumimoji="0" lang="uk-UA" sz="1400" b="0" i="0" u="none" strike="noStrike" kern="0" cap="none" spc="0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891036"/>
                  </a:ext>
                </a:extLst>
              </a:tr>
              <a:tr h="346186">
                <a:tc>
                  <a:txBody>
                    <a:bodyPr/>
                    <a:lstStyle/>
                    <a:p>
                      <a: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uk-UA" sz="1400" b="0" i="0" u="none" strike="noStrike" cap="none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Перегляд статистики адміністратором</a:t>
                      </a:r>
                      <a:endParaRPr lang="uk-UA" sz="1400" b="0" i="0" u="none" strike="noStrike" cap="none" noProof="1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uk-UA" sz="1400" b="0" i="0" u="none" strike="noStrike" cap="none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Відображення статистичної інформації системи</a:t>
                      </a:r>
                      <a:endParaRPr lang="uk-UA" sz="1400" b="0" i="0" u="none" strike="noStrike" cap="none" noProof="1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uk-UA" sz="1400" b="0" i="0" u="none" strike="noStrike" kern="0" cap="none" spc="0" normalizeH="0" baseline="0" noProof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Успішно</a:t>
                      </a:r>
                      <a:endParaRPr kumimoji="0" lang="uk-UA" sz="1400" b="0" i="0" u="none" strike="noStrike" kern="0" cap="none" spc="0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9169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22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-35287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Підсумки</a:t>
            </a:r>
            <a:r>
              <a:rPr lang="uk-UA" sz="3200" noProof="1"/>
              <a:t> </a:t>
            </a:r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1"/>
          </p:nvPr>
        </p:nvSpPr>
        <p:spPr>
          <a:xfrm>
            <a:off x="311700" y="879613"/>
            <a:ext cx="8520600" cy="36996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розроблено </a:t>
            </a: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програмну систему </a:t>
            </a:r>
            <a:r>
              <a:rPr lang="en-US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TeamForge </a:t>
            </a: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для пошуку тіммейтів у відеоіграх з підтримкою рейтингу та внутрішньої комунікації</a:t>
            </a: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lv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реалізовано </a:t>
            </a: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вебзастосунок та мобільний застосунок із використанням сучасних технологій розробки</a:t>
            </a: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lv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створено </a:t>
            </a: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серверну частину системи, що забезпечує автентифікацію користувачів, обробку запитів та взаємодію з базою даних</a:t>
            </a: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lv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реалізовано </a:t>
            </a: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основні функціональні можливості системи: пошук тіммейтів, внутрішній чат, систему інвайтів, список друзів та механізм оцінювання користувачів</a:t>
            </a: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lv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 </a:t>
            </a: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результатами тестування підтверджено коректність роботи основних сценаріїв використання системи</a:t>
            </a: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lvl="0" indent="0">
              <a:lnSpc>
                <a:spcPct val="150000"/>
              </a:lnSpc>
              <a:spcAft>
                <a:spcPts val="600"/>
              </a:spcAft>
              <a:buNone/>
            </a:pP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uk-UA" sz="1400" noProof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визначено </a:t>
            </a:r>
            <a:r>
              <a:rPr lang="uk-UA" sz="14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перспективи подальшого розвитку проєкту, зокрема розширення функціональних можливостей мобільного застосунку та впровадження додаткових механізмів взаємодії між користувачами.</a:t>
            </a:r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5B94D8-63F6-7EAC-6461-2DB4B135596F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1" smtClean="0"/>
              <a:t>12</a:t>
            </a:fld>
            <a:endParaRPr lang="uk-UA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ії кваліфікаційної роботи магістрів" id="{72E840FA-3155-46C9-BB37-701E4C9B1C67}" vid="{DC416FE5-D050-4603-AD75-8F49A0CCCB6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EE7662ADE2D11841B2AD5868CF31CB2E" ma:contentTypeVersion="4" ma:contentTypeDescription="Створення нового документа." ma:contentTypeScope="" ma:versionID="267c7300e208473969d8240ff6a4f0a3">
  <xsd:schema xmlns:xsd="http://www.w3.org/2001/XMLSchema" xmlns:xs="http://www.w3.org/2001/XMLSchema" xmlns:p="http://schemas.microsoft.com/office/2006/metadata/properties" xmlns:ns3="cbecdf0a-9b7f-4e5b-9507-a7ca1f386fd4" targetNamespace="http://schemas.microsoft.com/office/2006/metadata/properties" ma:root="true" ma:fieldsID="3471e3fa22ffbdf2cb1fbc5292af0e87" ns3:_="">
    <xsd:import namespace="cbecdf0a-9b7f-4e5b-9507-a7ca1f386fd4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ecdf0a-9b7f-4e5b-9507-a7ca1f386fd4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вмісту"/>
        <xsd:element ref="dc:title" minOccurs="0" maxOccurs="1" ma:index="4" ma:displayName="Заголовок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9D2CBB3-CA2B-4424-BADC-A1AD128B9A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becdf0a-9b7f-4e5b-9507-a7ca1f386fd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8CD271A-678C-4412-90FB-3FA206D6C6B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B798D5D-637F-481A-857D-17B7B1144988}">
  <ds:schemaRefs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cbecdf0a-9b7f-4e5b-9507-a7ca1f386fd4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2026_Б_ККП_ПЗПІ-23-9_Данченко_Д_О</Template>
  <TotalTime>186</TotalTime>
  <Words>689</Words>
  <Application>Microsoft Office PowerPoint</Application>
  <PresentationFormat>Экран (16:9)</PresentationFormat>
  <Paragraphs>105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Open Sans</vt:lpstr>
      <vt:lpstr>Times New Roman</vt:lpstr>
      <vt:lpstr>Arial</vt:lpstr>
      <vt:lpstr>Economica</vt:lpstr>
      <vt:lpstr>Шаблон презентації кваліфікаційної роботи магістрів</vt:lpstr>
      <vt:lpstr>Програмна система для пошуку тіммейтів у відеоіграх з підтримкою рейтингу та внутрішньої комунікації</vt:lpstr>
      <vt:lpstr>Мета роботи</vt:lpstr>
      <vt:lpstr>Аналіз проблеми та існуючих рішень </vt:lpstr>
      <vt:lpstr>Постановка задачі та опис системи</vt:lpstr>
      <vt:lpstr>Вибір технологій розробки </vt:lpstr>
      <vt:lpstr>Архітектура створеного програмного забезпечення</vt:lpstr>
      <vt:lpstr>Опис програмного забезпечення, що було використано у дослідженні</vt:lpstr>
      <vt:lpstr>Дизайн системи</vt:lpstr>
      <vt:lpstr>Приклад реалізації</vt:lpstr>
      <vt:lpstr>Інтерфейс користувача </vt:lpstr>
      <vt:lpstr>Тестування</vt:lpstr>
      <vt:lpstr>Підсумки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Програмна система для пошуку тіммейтів у відеоіграх з підтримкою рейтингу та внутрішньої комунікації</dc:title>
  <cp:lastModifiedBy>User</cp:lastModifiedBy>
  <cp:revision>25</cp:revision>
  <dcterms:created xsi:type="dcterms:W3CDTF">2026-06-05T17:07:11Z</dcterms:created>
  <dcterms:modified xsi:type="dcterms:W3CDTF">2026-06-14T15:54:38Z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0x010100EE7662ADE2D11841B2AD5868CF31CB2E</vt:lpwstr>
  </property>
</Properties>
</file>